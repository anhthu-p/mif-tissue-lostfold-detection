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938" r:id="rId2"/>
    <p:sldId id="974" r:id="rId3"/>
    <p:sldId id="989" r:id="rId4"/>
    <p:sldId id="964" r:id="rId5"/>
    <p:sldId id="976" r:id="rId6"/>
    <p:sldId id="973" r:id="rId7"/>
    <p:sldId id="256" r:id="rId8"/>
    <p:sldId id="987" r:id="rId9"/>
    <p:sldId id="988" r:id="rId10"/>
    <p:sldId id="9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05A1-0CBB-4E46-9EDA-880240445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2FA0B-7FB8-4D4F-8452-780597D4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98C2C-5170-441C-8FD9-FE61B8E3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38812-5F9D-4BAE-B8CF-83F58C74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10FF1-5B66-4327-8145-2D6018523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4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BB57-3E69-4F57-85B1-02E2003F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4AA13-BC53-4B8F-8F7B-6D4DF47AC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D0FC-DAA3-4DF8-A0AD-0117DA4C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CF4DA-B05E-43A2-BE97-5E90E153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84643-0D51-4C66-A21B-6178CB32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9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C187-A84C-4FCB-80DE-E2232826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210D-7BD3-4F53-BAE8-A367662A3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ADEFC-0D8A-428C-812F-788159C1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E0F2D-8A38-430C-8452-6F232BF3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F4FFA-24CA-448E-953A-19EA4AF8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1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6BE1-F120-4387-8DFA-A3929235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6402C-2E72-476B-836F-F0A23C1F2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90A37-D437-43E3-B707-C698330FB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08530-AA0F-418F-9E4F-CB5AF1F0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7C305-E54F-43D8-B9EC-4E00FCE0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CCEEF-6AF7-4EFD-85D5-6688CCA0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1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CF9D-92B7-43F6-BA42-02420484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3C2D-2BEF-40C6-B8DB-602C44A47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54A84-9650-415B-8350-5189F0362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72D4F-ABAD-45A6-A481-A80905FE2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48B5E-04D2-4180-92EB-83A7A671B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C4456-11CC-4592-9E71-4293922A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14426-6104-456E-A103-9A195600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13B2D-C954-44F9-A91E-A3A319D2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3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653B-9DA7-40DB-9597-A59A4C2D0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070E2-51FA-4141-8802-EFD03ED3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41363-3AFA-41AE-9ACF-7D54D79E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94DBC-B23B-4B21-87DC-E28F89C4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4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AA672-F84E-4AFA-A5FF-6762D4B0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8F74D-EFB5-43A0-8CAC-786E78D9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B0835-F733-43D5-8C00-8C024185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5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9797-D438-49A9-AC4A-9780D90F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3BD7-5FFA-443D-9306-59775EDBE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2B65C-84C8-40B5-83ED-D5FDCB7E3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B46FB-C4BF-4876-BC93-D016B925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6BFDF-F393-45CB-8E43-E53423B7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3CD88-6D94-4E6E-8478-B2E1AE0B3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5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E2B5-1FA3-42DD-982F-5E75236B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3B37E3-8E53-48AF-BD78-92B431282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0DDF8-28E0-4823-B121-E2B8B0B6A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FFDB9-8AF4-4CA7-86EE-37DAD700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53629-0BAE-4143-A952-E14FD623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315AF-32B5-4635-9904-A69F1942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4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3543-97AA-4428-805D-7323E4A4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0E0F2-E9FE-46B1-B7D3-375362656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57207-0808-48C9-AA5A-2E2C1C4D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38FE-69AC-4501-947E-5A538E63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1313-6C7A-44E7-B9F4-0A3B31DA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F03EA-3DDB-4BC7-8C1A-D4B71565C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027D8-92B5-4EC3-922F-F0718C5FF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F3C50-64E7-40A2-8AC4-546B1853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C67B0-8CC6-4089-93F0-A6904249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8EB9B-09EA-4D27-99BA-8A54F665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1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E0E37-6459-4EC6-AE6C-89ED6B31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CB55B-AF17-4E5A-B6FA-D83CC9D48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76225-5F92-4628-9CFE-F74168779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80D1B-F648-4745-8A54-DDB9ABCDC543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57A4A-2773-4238-ADF3-D7627C2B5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AC416-C123-4313-80E8-051403FC9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3867E-0796-491C-A0C9-BCF268C31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2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E142-C701-4191-8552-4FBE2799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2" y="326943"/>
            <a:ext cx="10515600" cy="61361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Building a pipeline for analyzing HTAN </a:t>
            </a:r>
            <a:r>
              <a:rPr lang="en-US" sz="4400" dirty="0" err="1"/>
              <a:t>mIF</a:t>
            </a:r>
            <a:r>
              <a:rPr lang="en-US" sz="4400" dirty="0"/>
              <a:t>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344C2-BAE3-4C73-9C4F-4E513A5673FF}"/>
              </a:ext>
            </a:extLst>
          </p:cNvPr>
          <p:cNvSpPr/>
          <p:nvPr/>
        </p:nvSpPr>
        <p:spPr>
          <a:xfrm>
            <a:off x="717884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 Automated image quality QC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457E2-2CDB-4436-859E-D0637342BBFD}"/>
              </a:ext>
            </a:extLst>
          </p:cNvPr>
          <p:cNvSpPr/>
          <p:nvPr/>
        </p:nvSpPr>
        <p:spPr>
          <a:xfrm>
            <a:off x="3453063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2. Segmentation (both nucleus and whole cell for all cell types)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CED58-FABF-496F-91AC-34E207F24E07}"/>
              </a:ext>
            </a:extLst>
          </p:cNvPr>
          <p:cNvSpPr/>
          <p:nvPr/>
        </p:nvSpPr>
        <p:spPr>
          <a:xfrm>
            <a:off x="6188242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3. </a:t>
            </a:r>
            <a:r>
              <a:rPr lang="en-US" sz="1800" dirty="0">
                <a:solidFill>
                  <a:schemeClr val="tx1"/>
                </a:solidFill>
              </a:rPr>
              <a:t>Automated segmentation QC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81C5D9-9E7E-4E0E-A333-4168A484CB76}"/>
              </a:ext>
            </a:extLst>
          </p:cNvPr>
          <p:cNvSpPr/>
          <p:nvPr/>
        </p:nvSpPr>
        <p:spPr>
          <a:xfrm>
            <a:off x="8923421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4. Quantification and analyze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22C67-0FBE-4613-A394-372A47B43622}"/>
              </a:ext>
            </a:extLst>
          </p:cNvPr>
          <p:cNvSpPr txBox="1"/>
          <p:nvPr/>
        </p:nvSpPr>
        <p:spPr>
          <a:xfrm>
            <a:off x="717884" y="2202586"/>
            <a:ext cx="24303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Run a quick diagnostic tool on image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percentile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Signal to noise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Dynamic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Coefficient variance of background</a:t>
            </a:r>
          </a:p>
          <a:p>
            <a:r>
              <a:rPr lang="en-US" sz="1400" dirty="0"/>
              <a:t>2. Testing AI tool on images to detect artifact using QUALIFAI (very slow)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551A6-48A3-4DE4-BE8B-89DD7971D732}"/>
              </a:ext>
            </a:extLst>
          </p:cNvPr>
          <p:cNvSpPr txBox="1"/>
          <p:nvPr/>
        </p:nvSpPr>
        <p:spPr>
          <a:xfrm>
            <a:off x="8923420" y="2402641"/>
            <a:ext cx="2430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Normalize feature expression using UNIFORM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21BA5-4405-4C8F-8CAA-91E57303B971}"/>
              </a:ext>
            </a:extLst>
          </p:cNvPr>
          <p:cNvSpPr txBox="1"/>
          <p:nvPr/>
        </p:nvSpPr>
        <p:spPr>
          <a:xfrm>
            <a:off x="3453063" y="2266115"/>
            <a:ext cx="243038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err="1"/>
              <a:t>Instaseg</a:t>
            </a:r>
            <a:endParaRPr lang="en-US" sz="1100" dirty="0"/>
          </a:p>
          <a:p>
            <a:r>
              <a:rPr lang="en-US" sz="1100" dirty="0"/>
              <a:t>Whole cell segmentation: max projection </a:t>
            </a:r>
            <a:r>
              <a:rPr lang="en-US" sz="1100" dirty="0" err="1"/>
              <a:t>panCK</a:t>
            </a:r>
            <a:r>
              <a:rPr lang="en-US" sz="1100" dirty="0"/>
              <a:t>, </a:t>
            </a:r>
            <a:r>
              <a:rPr lang="en-US" sz="1100" dirty="0" err="1"/>
              <a:t>aSMA</a:t>
            </a:r>
            <a:r>
              <a:rPr lang="en-US" sz="1100" dirty="0"/>
              <a:t>, CD45, Vim (if possible) since biomarkers are varied for each file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12E851-AAF6-4118-BAF8-D9A6D78E8F52}"/>
              </a:ext>
            </a:extLst>
          </p:cNvPr>
          <p:cNvSpPr txBox="1"/>
          <p:nvPr/>
        </p:nvSpPr>
        <p:spPr>
          <a:xfrm>
            <a:off x="6096000" y="2402641"/>
            <a:ext cx="2430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Currently manual QC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Haven’t worked on this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F52D9C-E0B6-4657-ABBB-B0698E43A5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52" t="2479" r="21167" b="2094"/>
          <a:stretch/>
        </p:blipFill>
        <p:spPr>
          <a:xfrm>
            <a:off x="3381414" y="3429000"/>
            <a:ext cx="2952207" cy="305404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216B7FB-F6A7-45E3-882D-56B6E89386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252" t="3064" r="21167"/>
          <a:stretch/>
        </p:blipFill>
        <p:spPr>
          <a:xfrm>
            <a:off x="6422499" y="3418419"/>
            <a:ext cx="2952207" cy="310234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38AD74-B34E-413B-8C74-B413F18D08E6}"/>
              </a:ext>
            </a:extLst>
          </p:cNvPr>
          <p:cNvSpPr txBox="1"/>
          <p:nvPr/>
        </p:nvSpPr>
        <p:spPr>
          <a:xfrm>
            <a:off x="3252931" y="3464840"/>
            <a:ext cx="1992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Composition membrane cytoplasm markers (</a:t>
            </a:r>
            <a:r>
              <a:rPr lang="en-US" sz="1200" dirty="0" err="1">
                <a:solidFill>
                  <a:schemeClr val="bg1"/>
                </a:solidFill>
              </a:rPr>
              <a:t>panCK</a:t>
            </a:r>
            <a:r>
              <a:rPr lang="en-US" sz="1200" dirty="0">
                <a:solidFill>
                  <a:schemeClr val="bg1"/>
                </a:solidFill>
              </a:rPr>
              <a:t>, CD45 and </a:t>
            </a:r>
            <a:r>
              <a:rPr lang="en-US" sz="1200" dirty="0" err="1">
                <a:solidFill>
                  <a:schemeClr val="bg1"/>
                </a:solidFill>
              </a:rPr>
              <a:t>aSMA</a:t>
            </a:r>
            <a:r>
              <a:rPr lang="en-US" sz="1200" dirty="0">
                <a:solidFill>
                  <a:schemeClr val="bg1"/>
                </a:solidFill>
              </a:rPr>
              <a:t> or </a:t>
            </a:r>
            <a:r>
              <a:rPr lang="en-US" sz="1200" dirty="0" err="1">
                <a:solidFill>
                  <a:schemeClr val="bg1"/>
                </a:solidFill>
              </a:rPr>
              <a:t>Vinmentin</a:t>
            </a:r>
            <a:r>
              <a:rPr lang="en-US" sz="1200" dirty="0">
                <a:solidFill>
                  <a:schemeClr val="bg1"/>
                </a:solidFill>
              </a:rPr>
              <a:t>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FF5C45-3561-4C27-A3D1-A3F359F6C982}"/>
              </a:ext>
            </a:extLst>
          </p:cNvPr>
          <p:cNvSpPr txBox="1"/>
          <p:nvPr/>
        </p:nvSpPr>
        <p:spPr>
          <a:xfrm>
            <a:off x="6333621" y="3524272"/>
            <a:ext cx="128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Whole cell segmentation</a:t>
            </a:r>
          </a:p>
        </p:txBody>
      </p:sp>
    </p:spTree>
    <p:extLst>
      <p:ext uri="{BB962C8B-B14F-4D97-AF65-F5344CB8AC3E}">
        <p14:creationId xmlns:p14="http://schemas.microsoft.com/office/powerpoint/2010/main" val="171751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E142-C701-4191-8552-4FBE2799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69" y="162320"/>
            <a:ext cx="10515600" cy="349488"/>
          </a:xfrm>
        </p:spPr>
        <p:txBody>
          <a:bodyPr>
            <a:noAutofit/>
          </a:bodyPr>
          <a:lstStyle/>
          <a:p>
            <a:r>
              <a:rPr lang="en-US" sz="1600" b="1" dirty="0"/>
              <a:t>Computational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344C2-BAE3-4C73-9C4F-4E513A5673FF}"/>
              </a:ext>
            </a:extLst>
          </p:cNvPr>
          <p:cNvSpPr/>
          <p:nvPr/>
        </p:nvSpPr>
        <p:spPr>
          <a:xfrm>
            <a:off x="717885" y="651163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 Automated image quality QC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7C94D-26FE-4F3C-AE09-C0CB87DB3FEC}"/>
              </a:ext>
            </a:extLst>
          </p:cNvPr>
          <p:cNvSpPr txBox="1"/>
          <p:nvPr/>
        </p:nvSpPr>
        <p:spPr>
          <a:xfrm>
            <a:off x="717884" y="2021076"/>
            <a:ext cx="24303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Run a quick diagnostic tool on image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percentile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Signal to noise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Dynamic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Coefficient variance of background</a:t>
            </a:r>
          </a:p>
          <a:p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</a:rPr>
              <a:t>2. Testing AI tool on images to detect artifact using QUALIFAI (very slow)  </a:t>
            </a:r>
          </a:p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- Pros: Already the have weight files and validate DL model that works for specific artifacts (air bubble, tissue fold, </a:t>
            </a:r>
            <a:r>
              <a:rPr lang="en-US" sz="1400" i="1" dirty="0" err="1">
                <a:solidFill>
                  <a:schemeClr val="bg1">
                    <a:lumMod val="75000"/>
                  </a:schemeClr>
                </a:solidFill>
              </a:rPr>
              <a:t>autofluoresence</a:t>
            </a:r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) </a:t>
            </a:r>
          </a:p>
          <a:p>
            <a:r>
              <a:rPr lang="en-US" sz="1400" i="1" dirty="0" err="1">
                <a:solidFill>
                  <a:schemeClr val="bg1">
                    <a:lumMod val="75000"/>
                  </a:schemeClr>
                </a:solidFill>
              </a:rPr>
              <a:t>mIF</a:t>
            </a:r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 datasets</a:t>
            </a:r>
          </a:p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- Cons: very slow on bad staining images (200 mins)</a:t>
            </a:r>
          </a:p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Good staining image (50 mins)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C0976-2346-4F64-921A-0B13CB1EAACE}"/>
              </a:ext>
            </a:extLst>
          </p:cNvPr>
          <p:cNvSpPr txBox="1"/>
          <p:nvPr/>
        </p:nvSpPr>
        <p:spPr>
          <a:xfrm>
            <a:off x="4177389" y="1509630"/>
            <a:ext cx="729672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Step 0:  Load reference + candidate round, whole-image gate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Global_disagreement</a:t>
            </a:r>
            <a:r>
              <a:rPr lang="en-US" sz="1000" dirty="0"/>
              <a:t>() computes 1 - NCC (normalized cross-correlation) over all foreground pixels at once (foreground defined by an Otsu threshold on the reference image –round1)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If this whole-image disagreement exceeds GLOBAL_DISAGREE_THRESHOLD (0.7), the round is marked </a:t>
            </a:r>
            <a:r>
              <a:rPr lang="en-US" sz="1000" dirty="0" err="1"/>
              <a:t>registration_failed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/>
          </a:p>
          <a:p>
            <a:r>
              <a:rPr lang="en-US" sz="1000" b="1" dirty="0"/>
              <a:t>Step 1: Per-tile disagreement (</a:t>
            </a:r>
            <a:r>
              <a:rPr lang="en-US" sz="1000" b="1" dirty="0" err="1"/>
              <a:t>tile_disagreement</a:t>
            </a:r>
            <a:r>
              <a:rPr lang="en-US" sz="1000" b="1" dirty="0"/>
              <a:t>)</a:t>
            </a:r>
          </a:p>
          <a:p>
            <a:r>
              <a:rPr lang="en-US" sz="1000" dirty="0"/>
              <a:t>The image is split into a grid of tile × tile pixel blocks.</a:t>
            </a:r>
          </a:p>
          <a:p>
            <a:r>
              <a:rPr lang="en-US" sz="1000" dirty="0"/>
              <a:t>For each tile: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Foreground check: skip tiles where less than </a:t>
            </a:r>
            <a:r>
              <a:rPr lang="en-US" sz="1000" dirty="0" err="1"/>
              <a:t>min_foreground</a:t>
            </a:r>
            <a:r>
              <a:rPr lang="en-US" sz="1000" dirty="0"/>
              <a:t> (5%) of pixels exceed the Otsu threshold — too little tissue to judge.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NCC per tile: same 1 - NCC calculation as the global check, but restricted to this one tile → disagree[</a:t>
            </a:r>
            <a:r>
              <a:rPr lang="en-US" sz="1000" dirty="0" err="1"/>
              <a:t>r,c</a:t>
            </a:r>
            <a:r>
              <a:rPr lang="en-US" sz="1000" dirty="0"/>
              <a:t>].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Signed intensity change: </a:t>
            </a:r>
            <a:r>
              <a:rPr lang="en-US" sz="1000" dirty="0" err="1"/>
              <a:t>dmean</a:t>
            </a:r>
            <a:r>
              <a:rPr lang="en-US" sz="1000" dirty="0"/>
              <a:t>[</a:t>
            </a:r>
            <a:r>
              <a:rPr lang="en-US" sz="1000" dirty="0" err="1"/>
              <a:t>r,c</a:t>
            </a:r>
            <a:r>
              <a:rPr lang="en-US" sz="1000" dirty="0"/>
              <a:t>] = mean(</a:t>
            </a:r>
            <a:r>
              <a:rPr lang="en-US" sz="1000" dirty="0" err="1"/>
              <a:t>tile_b</a:t>
            </a:r>
            <a:r>
              <a:rPr lang="en-US" sz="1000" dirty="0"/>
              <a:t>) - mean(</a:t>
            </a:r>
            <a:r>
              <a:rPr lang="en-US" sz="1000" dirty="0" err="1"/>
              <a:t>tile_a</a:t>
            </a:r>
            <a:r>
              <a:rPr lang="en-US" sz="1000" dirty="0"/>
              <a:t>) — the sign distinguishes gain vs. loss (positive = round B brighter than reference → potential fold/doubled tissue; negative = round B dimmer → potential tissue loss).</a:t>
            </a:r>
          </a:p>
          <a:p>
            <a:endParaRPr lang="en-US" sz="1000" b="1" dirty="0"/>
          </a:p>
          <a:p>
            <a:r>
              <a:rPr lang="en-US" sz="1000" b="1" dirty="0"/>
              <a:t>Step 2: Flagging (</a:t>
            </a:r>
            <a:r>
              <a:rPr lang="en-US" sz="1000" b="1" dirty="0" err="1"/>
              <a:t>flag_folds</a:t>
            </a:r>
            <a:r>
              <a:rPr lang="en-US" sz="1000" b="1" dirty="0"/>
              <a:t>)</a:t>
            </a:r>
          </a:p>
          <a:p>
            <a:r>
              <a:rPr lang="en-US" sz="1000" dirty="0"/>
              <a:t>Tiles are flagged as outliers using robust statistics (median + </a:t>
            </a:r>
            <a:r>
              <a:rPr lang="en-US" sz="1000" dirty="0" err="1"/>
              <a:t>k·MAD</a:t>
            </a:r>
            <a:r>
              <a:rPr lang="en-US" sz="1000" dirty="0"/>
              <a:t>, not mean/std computed from that round's own valid tile disagreement values. A tile is flagged if:</a:t>
            </a:r>
          </a:p>
          <a:p>
            <a:endParaRPr lang="en-US" sz="1000" dirty="0"/>
          </a:p>
          <a:p>
            <a:r>
              <a:rPr lang="en-US" sz="1000" dirty="0"/>
              <a:t>disagree is a spatial outlier (&gt; median + </a:t>
            </a:r>
            <a:r>
              <a:rPr lang="en-US" sz="1000" dirty="0" err="1"/>
              <a:t>k·MAD</a:t>
            </a:r>
            <a:r>
              <a:rPr lang="en-US" sz="1000" dirty="0"/>
              <a:t>), AND</a:t>
            </a:r>
          </a:p>
          <a:p>
            <a:r>
              <a:rPr lang="en-US" sz="1000" dirty="0"/>
              <a:t>split by the sign of </a:t>
            </a:r>
            <a:r>
              <a:rPr lang="en-US" sz="1000" dirty="0" err="1"/>
              <a:t>dmean</a:t>
            </a:r>
            <a:r>
              <a:rPr lang="en-US" sz="1000" dirty="0"/>
              <a:t>:</a:t>
            </a:r>
          </a:p>
          <a:p>
            <a:r>
              <a:rPr lang="en-US" sz="1000" dirty="0" err="1"/>
              <a:t>dmean</a:t>
            </a:r>
            <a:r>
              <a:rPr lang="en-US" sz="1000" dirty="0"/>
              <a:t> &gt; 0 → fold candidate (</a:t>
            </a:r>
            <a:r>
              <a:rPr lang="en-US" sz="1000" dirty="0" err="1"/>
              <a:t>fold_tile</a:t>
            </a:r>
            <a:r>
              <a:rPr lang="en-US" sz="1000" dirty="0"/>
              <a:t>)</a:t>
            </a:r>
          </a:p>
          <a:p>
            <a:r>
              <a:rPr lang="en-US" sz="1000" dirty="0" err="1"/>
              <a:t>dmean</a:t>
            </a:r>
            <a:r>
              <a:rPr lang="en-US" sz="1000" dirty="0"/>
              <a:t> &lt; 0 → lost tissue (</a:t>
            </a:r>
            <a:r>
              <a:rPr lang="en-US" sz="1000" dirty="0" err="1"/>
              <a:t>lose_tile</a:t>
            </a:r>
            <a:r>
              <a:rPr lang="en-US" sz="1000" dirty="0"/>
              <a:t>)</a:t>
            </a:r>
          </a:p>
          <a:p>
            <a:endParaRPr lang="en-US" sz="1000" dirty="0"/>
          </a:p>
          <a:p>
            <a:r>
              <a:rPr lang="en-US" sz="1000" b="1" dirty="0"/>
              <a:t>Step 3:  Export for downstream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get_flagged_tile_bounds</a:t>
            </a:r>
            <a:r>
              <a:rPr lang="en-US" sz="1000" dirty="0"/>
              <a:t>() converts each flagged (row, col) tile into a pixel bounding box (x0,y0,x1,y1), used later to exclude cells whose centroids fall inside.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get_qc_record</a:t>
            </a:r>
            <a:r>
              <a:rPr lang="en-US" sz="1000" dirty="0"/>
              <a:t>() summarizes the round: flagged-tile ratio (denominator = only tissue-containing tiles, not background), plus a warning field escalating from PASS → Flag manually check (ratio &gt; 10%) → Majority is lost/fold - Manual review (whole-round registration failure).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plot_flagged_tiles</a:t>
            </a:r>
            <a:r>
              <a:rPr lang="en-US" sz="1000" dirty="0"/>
              <a:t>() renders a magenta/green merge (reference vs. candidate round) with red/white rectangles marking lost/fold tiles respectively, for visual QC.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ACCD86-DC3E-405E-8170-DBFD3C95C45B}"/>
              </a:ext>
            </a:extLst>
          </p:cNvPr>
          <p:cNvSpPr/>
          <p:nvPr/>
        </p:nvSpPr>
        <p:spPr>
          <a:xfrm>
            <a:off x="4177389" y="651163"/>
            <a:ext cx="5502321" cy="427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Updated: Detecting regions of lost and fold tissue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8958-B447-496E-821E-796DB17C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766"/>
          </a:xfrm>
        </p:spPr>
        <p:txBody>
          <a:bodyPr/>
          <a:lstStyle/>
          <a:p>
            <a:r>
              <a:rPr lang="en-US" dirty="0"/>
              <a:t>Examples – HTAN (LSP1201-C10)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5B833D-D827-48B7-863F-C9CD4D0D6163}"/>
              </a:ext>
            </a:extLst>
          </p:cNvPr>
          <p:cNvGrpSpPr/>
          <p:nvPr/>
        </p:nvGrpSpPr>
        <p:grpSpPr>
          <a:xfrm>
            <a:off x="843367" y="1539979"/>
            <a:ext cx="10484604" cy="4952895"/>
            <a:chOff x="838200" y="1690688"/>
            <a:chExt cx="10484604" cy="49528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7C4CD80-0FEA-443D-9193-7AE8153F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1717328"/>
              <a:ext cx="3454117" cy="16459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E0C8EA-865F-4E52-96E2-F1E655D9E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211" y="3367773"/>
              <a:ext cx="3454117" cy="16459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AA70019-77C0-4B44-9B55-BD7394338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027" y="4997663"/>
              <a:ext cx="3454117" cy="164592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34C1E2-C6FF-455A-B13B-095220946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358" y="1690688"/>
              <a:ext cx="3454117" cy="164592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A043422-10C3-4D51-8A99-7D30CF30C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359" y="3351743"/>
              <a:ext cx="3454117" cy="164592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F4CC0DC-60B6-4458-9D2B-EC549DC85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357" y="4997663"/>
              <a:ext cx="3454117" cy="164592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0FDE570-AA95-452A-BB50-A3C4DB34E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8686" y="1721853"/>
              <a:ext cx="3454117" cy="164592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B5287F8-78D2-47CB-A3F3-D4C0BE326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8687" y="3367773"/>
              <a:ext cx="3454117" cy="1645920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8B90D34-2328-41A9-9FED-0360127E0271}"/>
              </a:ext>
            </a:extLst>
          </p:cNvPr>
          <p:cNvSpPr txBox="1"/>
          <p:nvPr/>
        </p:nvSpPr>
        <p:spPr>
          <a:xfrm>
            <a:off x="962302" y="1201812"/>
            <a:ext cx="128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F2E0C5-E293-415F-8790-2A590AA44526}"/>
              </a:ext>
            </a:extLst>
          </p:cNvPr>
          <p:cNvSpPr txBox="1"/>
          <p:nvPr/>
        </p:nvSpPr>
        <p:spPr>
          <a:xfrm>
            <a:off x="2676446" y="1201210"/>
            <a:ext cx="152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Flagged tiles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13A42-3895-46A1-925D-61B67773EEAA}"/>
              </a:ext>
            </a:extLst>
          </p:cNvPr>
          <p:cNvSpPr txBox="1"/>
          <p:nvPr/>
        </p:nvSpPr>
        <p:spPr>
          <a:xfrm>
            <a:off x="4514565" y="1179281"/>
            <a:ext cx="128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E991C3-F652-413B-9E06-9F6A2769B235}"/>
              </a:ext>
            </a:extLst>
          </p:cNvPr>
          <p:cNvSpPr txBox="1"/>
          <p:nvPr/>
        </p:nvSpPr>
        <p:spPr>
          <a:xfrm>
            <a:off x="6228709" y="1179883"/>
            <a:ext cx="152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Flagged tiles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AB3B1F-D476-448E-A62F-C716455A3053}"/>
              </a:ext>
            </a:extLst>
          </p:cNvPr>
          <p:cNvSpPr txBox="1"/>
          <p:nvPr/>
        </p:nvSpPr>
        <p:spPr>
          <a:xfrm>
            <a:off x="7968682" y="1201210"/>
            <a:ext cx="128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1D2719-79E3-4665-8CC9-AA0A5375F39C}"/>
              </a:ext>
            </a:extLst>
          </p:cNvPr>
          <p:cNvSpPr txBox="1"/>
          <p:nvPr/>
        </p:nvSpPr>
        <p:spPr>
          <a:xfrm>
            <a:off x="9682826" y="1201812"/>
            <a:ext cx="152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Flagged tiles</a:t>
            </a:r>
          </a:p>
        </p:txBody>
      </p:sp>
    </p:spTree>
    <p:extLst>
      <p:ext uri="{BB962C8B-B14F-4D97-AF65-F5344CB8AC3E}">
        <p14:creationId xmlns:p14="http://schemas.microsoft.com/office/powerpoint/2010/main" val="181746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0436-D9FE-4301-839E-A75CB254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HTAN (LSP1201-C10)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18C2ED0-EA0A-4D74-AFBC-E85F21FC0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8788" y="1690688"/>
          <a:ext cx="9686925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3" imgW="9687088" imgH="1914564" progId="Excel.Sheet.12">
                  <p:embed/>
                </p:oleObj>
              </mc:Choice>
              <mc:Fallback>
                <p:oleObj name="Worksheet" r:id="rId3" imgW="9687088" imgH="1914564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B18C2ED0-EA0A-4D74-AFBC-E85F21FC0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8788" y="1690688"/>
                        <a:ext cx="9686925" cy="191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D45122C-EAA3-4E41-A464-45E28C428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613" y="3924299"/>
          <a:ext cx="7277100" cy="248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Worksheet" r:id="rId5" imgW="7277028" imgH="2485909" progId="Excel.Sheet.12">
                  <p:embed/>
                </p:oleObj>
              </mc:Choice>
              <mc:Fallback>
                <p:oleObj name="Worksheet" r:id="rId5" imgW="7277028" imgH="2485909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D45122C-EAA3-4E41-A464-45E28C428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78613" y="3924299"/>
                        <a:ext cx="7277100" cy="2486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D229B6D-9F18-4E59-B4EF-0F4E4D6ABFAB}"/>
              </a:ext>
            </a:extLst>
          </p:cNvPr>
          <p:cNvSpPr txBox="1"/>
          <p:nvPr/>
        </p:nvSpPr>
        <p:spPr>
          <a:xfrm>
            <a:off x="858115" y="36303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get_flagged_tile_bounds</a:t>
            </a:r>
            <a:r>
              <a:rPr lang="en-US" sz="1800" dirty="0"/>
              <a:t>()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9F2AE7-26F6-45F8-A5F6-73076DA75D23}"/>
              </a:ext>
            </a:extLst>
          </p:cNvPr>
          <p:cNvSpPr txBox="1"/>
          <p:nvPr/>
        </p:nvSpPr>
        <p:spPr>
          <a:xfrm>
            <a:off x="716250" y="12962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get_qc_record</a:t>
            </a:r>
            <a:r>
              <a:rPr lang="en-US" sz="1800" dirty="0"/>
              <a:t>()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985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D344C2-BAE3-4C73-9C4F-4E513A5673FF}"/>
              </a:ext>
            </a:extLst>
          </p:cNvPr>
          <p:cNvSpPr/>
          <p:nvPr/>
        </p:nvSpPr>
        <p:spPr>
          <a:xfrm>
            <a:off x="717884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 Automated image quality QC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457E2-2CDB-4436-859E-D0637342BBFD}"/>
              </a:ext>
            </a:extLst>
          </p:cNvPr>
          <p:cNvSpPr/>
          <p:nvPr/>
        </p:nvSpPr>
        <p:spPr>
          <a:xfrm>
            <a:off x="3453063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2. Segmentation (both nucleus and whole cell for all cell types)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CED58-FABF-496F-91AC-34E207F24E07}"/>
              </a:ext>
            </a:extLst>
          </p:cNvPr>
          <p:cNvSpPr/>
          <p:nvPr/>
        </p:nvSpPr>
        <p:spPr>
          <a:xfrm>
            <a:off x="6188242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Automated segmentation QC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81C5D9-9E7E-4E0E-A333-4168A484CB76}"/>
              </a:ext>
            </a:extLst>
          </p:cNvPr>
          <p:cNvSpPr/>
          <p:nvPr/>
        </p:nvSpPr>
        <p:spPr>
          <a:xfrm>
            <a:off x="8923421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4. Quantification and analyze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22C67-0FBE-4613-A394-372A47B43622}"/>
              </a:ext>
            </a:extLst>
          </p:cNvPr>
          <p:cNvSpPr txBox="1"/>
          <p:nvPr/>
        </p:nvSpPr>
        <p:spPr>
          <a:xfrm>
            <a:off x="717883" y="2266114"/>
            <a:ext cx="24303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Run a quick diagnostic tool on image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percentile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Signal to noise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Dynamic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Coefficient variance of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Detecting lost/fold regions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21BA5-4405-4C8F-8CAA-91E57303B971}"/>
              </a:ext>
            </a:extLst>
          </p:cNvPr>
          <p:cNvSpPr txBox="1"/>
          <p:nvPr/>
        </p:nvSpPr>
        <p:spPr>
          <a:xfrm>
            <a:off x="3453063" y="2266115"/>
            <a:ext cx="24303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Instaseg</a:t>
            </a:r>
            <a:endParaRPr lang="en-US" sz="1400" dirty="0"/>
          </a:p>
          <a:p>
            <a:r>
              <a:rPr lang="en-US" sz="1400" dirty="0"/>
              <a:t>Whole cell segmentation: max projection </a:t>
            </a:r>
            <a:r>
              <a:rPr lang="en-US" sz="1400" dirty="0" err="1"/>
              <a:t>panCK</a:t>
            </a:r>
            <a:r>
              <a:rPr lang="en-US" sz="1400" dirty="0"/>
              <a:t>, </a:t>
            </a:r>
            <a:r>
              <a:rPr lang="en-US" sz="1400" dirty="0" err="1"/>
              <a:t>aSMA</a:t>
            </a:r>
            <a:r>
              <a:rPr lang="en-US" sz="1400" dirty="0"/>
              <a:t>, CD45, Vim (if possible) since biomarkers are varied for each 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FF5C45-3561-4C27-A3D1-A3F359F6C982}"/>
              </a:ext>
            </a:extLst>
          </p:cNvPr>
          <p:cNvSpPr txBox="1"/>
          <p:nvPr/>
        </p:nvSpPr>
        <p:spPr>
          <a:xfrm>
            <a:off x="6333621" y="3524272"/>
            <a:ext cx="128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Whole cell segmentation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5390BD-99F0-4CE1-887A-760E6E57AB19}"/>
              </a:ext>
            </a:extLst>
          </p:cNvPr>
          <p:cNvSpPr txBox="1"/>
          <p:nvPr/>
        </p:nvSpPr>
        <p:spPr>
          <a:xfrm>
            <a:off x="8923420" y="2266114"/>
            <a:ext cx="24303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Mark cells that are the in lost or fold regions as </a:t>
            </a:r>
            <a:r>
              <a:rPr lang="en-US" sz="1400" dirty="0" err="1"/>
              <a:t>NaN</a:t>
            </a:r>
            <a:r>
              <a:rPr lang="en-US" sz="1400" dirty="0"/>
              <a:t> after quantification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D2764-3A92-45CE-865D-D3563F5F76AC}"/>
              </a:ext>
            </a:extLst>
          </p:cNvPr>
          <p:cNvSpPr txBox="1"/>
          <p:nvPr/>
        </p:nvSpPr>
        <p:spPr>
          <a:xfrm>
            <a:off x="616283" y="4590473"/>
            <a:ext cx="2921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Finished (~ 20 mins -1 hour)</a:t>
            </a:r>
          </a:p>
          <a:p>
            <a:r>
              <a:rPr lang="en-US" dirty="0"/>
              <a:t>HTAN: </a:t>
            </a:r>
          </a:p>
          <a:p>
            <a:r>
              <a:rPr lang="en-US" dirty="0"/>
              <a:t>704 NST samples</a:t>
            </a:r>
          </a:p>
          <a:p>
            <a:r>
              <a:rPr lang="en-US" dirty="0"/>
              <a:t>147 ILC samples </a:t>
            </a:r>
          </a:p>
        </p:txBody>
      </p:sp>
    </p:spTree>
    <p:extLst>
      <p:ext uri="{BB962C8B-B14F-4D97-AF65-F5344CB8AC3E}">
        <p14:creationId xmlns:p14="http://schemas.microsoft.com/office/powerpoint/2010/main" val="3430582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F9A2-5B3D-494F-BC21-6934E925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09" y="328179"/>
            <a:ext cx="10515600" cy="1325563"/>
          </a:xfrm>
        </p:spPr>
        <p:txBody>
          <a:bodyPr/>
          <a:lstStyle/>
          <a:p>
            <a:r>
              <a:rPr lang="en-US" dirty="0"/>
              <a:t>Examples – HTAN (LSP1201-C10)</a:t>
            </a:r>
          </a:p>
        </p:txBody>
      </p:sp>
      <p:pic>
        <p:nvPicPr>
          <p:cNvPr id="4" name="Video Project 2">
            <a:hlinkClick r:id="" action="ppaction://media"/>
            <a:extLst>
              <a:ext uri="{FF2B5EF4-FFF2-40B4-BE49-F238E27FC236}">
                <a16:creationId xmlns:a16="http://schemas.microsoft.com/office/drawing/2014/main" id="{C5DEE4F8-69AB-49EC-B609-4243B7F16D2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32791" y="1336097"/>
            <a:ext cx="8459209" cy="475819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AA7FBA-8B01-468B-A28F-3AA6BD6B7E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0" y="2727537"/>
            <a:ext cx="3454117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7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AA68-6DFE-472A-AF2F-595F55472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3F684-0DEA-48CD-8CCF-7B674CD9C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2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D344C2-BAE3-4C73-9C4F-4E513A5673FF}"/>
              </a:ext>
            </a:extLst>
          </p:cNvPr>
          <p:cNvSpPr/>
          <p:nvPr/>
        </p:nvSpPr>
        <p:spPr>
          <a:xfrm>
            <a:off x="413328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1. Automated image quality QC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457E2-2CDB-4436-859E-D0637342BBFD}"/>
              </a:ext>
            </a:extLst>
          </p:cNvPr>
          <p:cNvSpPr/>
          <p:nvPr/>
        </p:nvSpPr>
        <p:spPr>
          <a:xfrm>
            <a:off x="3545426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2. Segmentation (both nucleus and whole cell for all cell types)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CED58-FABF-496F-91AC-34E207F24E07}"/>
              </a:ext>
            </a:extLst>
          </p:cNvPr>
          <p:cNvSpPr/>
          <p:nvPr/>
        </p:nvSpPr>
        <p:spPr>
          <a:xfrm>
            <a:off x="6280605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Automated segmentation QC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81C5D9-9E7E-4E0E-A333-4168A484CB76}"/>
              </a:ext>
            </a:extLst>
          </p:cNvPr>
          <p:cNvSpPr/>
          <p:nvPr/>
        </p:nvSpPr>
        <p:spPr>
          <a:xfrm>
            <a:off x="9015784" y="1077078"/>
            <a:ext cx="2430379" cy="105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4. Quantification and analyze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22C67-0FBE-4613-A394-372A47B43622}"/>
              </a:ext>
            </a:extLst>
          </p:cNvPr>
          <p:cNvSpPr txBox="1"/>
          <p:nvPr/>
        </p:nvSpPr>
        <p:spPr>
          <a:xfrm>
            <a:off x="413327" y="2266114"/>
            <a:ext cx="24303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Run a quick diagnostic tool on image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percentile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Signal to noise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Dynamic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Coefficient variance of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Detecting lost/fold regions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21BA5-4405-4C8F-8CAA-91E57303B971}"/>
              </a:ext>
            </a:extLst>
          </p:cNvPr>
          <p:cNvSpPr txBox="1"/>
          <p:nvPr/>
        </p:nvSpPr>
        <p:spPr>
          <a:xfrm>
            <a:off x="3545426" y="2266115"/>
            <a:ext cx="24303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Instaseg</a:t>
            </a:r>
            <a:endParaRPr lang="en-US" sz="1400" dirty="0"/>
          </a:p>
          <a:p>
            <a:r>
              <a:rPr lang="en-US" sz="1400" dirty="0"/>
              <a:t>Whole cell segmentation: max projection </a:t>
            </a:r>
            <a:r>
              <a:rPr lang="en-US" sz="1400" dirty="0" err="1"/>
              <a:t>panCK</a:t>
            </a:r>
            <a:r>
              <a:rPr lang="en-US" sz="1400" dirty="0"/>
              <a:t>, </a:t>
            </a:r>
            <a:r>
              <a:rPr lang="en-US" sz="1400" dirty="0" err="1"/>
              <a:t>aSMA</a:t>
            </a:r>
            <a:r>
              <a:rPr lang="en-US" sz="1400" dirty="0"/>
              <a:t>, CD45, Vim (if possible) since biomarkers are varied for each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5390BD-99F0-4CE1-887A-760E6E57AB19}"/>
              </a:ext>
            </a:extLst>
          </p:cNvPr>
          <p:cNvSpPr txBox="1"/>
          <p:nvPr/>
        </p:nvSpPr>
        <p:spPr>
          <a:xfrm>
            <a:off x="9015783" y="2266114"/>
            <a:ext cx="24303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Mark cells that are the in lost or fold regions as </a:t>
            </a:r>
            <a:r>
              <a:rPr lang="en-US" sz="1400" dirty="0" err="1"/>
              <a:t>NaN</a:t>
            </a:r>
            <a:r>
              <a:rPr lang="en-US" sz="1400" dirty="0"/>
              <a:t> after quantification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D2764-3A92-45CE-865D-D3563F5F76AC}"/>
              </a:ext>
            </a:extLst>
          </p:cNvPr>
          <p:cNvSpPr txBox="1"/>
          <p:nvPr/>
        </p:nvSpPr>
        <p:spPr>
          <a:xfrm>
            <a:off x="284018" y="4590473"/>
            <a:ext cx="2921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Finished (~ 20 mins -1 hour)</a:t>
            </a:r>
          </a:p>
          <a:p>
            <a:r>
              <a:rPr lang="en-US" dirty="0"/>
              <a:t>704 NST samples</a:t>
            </a:r>
          </a:p>
          <a:p>
            <a:r>
              <a:rPr lang="en-US" dirty="0"/>
              <a:t>147 ILC samples 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6A18E8F-E448-4E79-A416-1DBD76FA37D7}"/>
              </a:ext>
            </a:extLst>
          </p:cNvPr>
          <p:cNvSpPr txBox="1"/>
          <p:nvPr/>
        </p:nvSpPr>
        <p:spPr>
          <a:xfrm>
            <a:off x="0" y="319912"/>
            <a:ext cx="2414709" cy="335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613"/>
              </a:lnSpc>
            </a:pPr>
            <a:r>
              <a:rPr lang="en-US" sz="24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Computational</a:t>
            </a:r>
          </a:p>
        </p:txBody>
      </p:sp>
    </p:spTree>
    <p:extLst>
      <p:ext uri="{BB962C8B-B14F-4D97-AF65-F5344CB8AC3E}">
        <p14:creationId xmlns:p14="http://schemas.microsoft.com/office/powerpoint/2010/main" val="163162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DF9A-3C6D-4073-AEB2-84ACDE92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8DDAA-6222-4A33-B034-0AF106285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1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8958-B447-496E-821E-796DB17C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766"/>
          </a:xfrm>
        </p:spPr>
        <p:txBody>
          <a:bodyPr/>
          <a:lstStyle/>
          <a:p>
            <a:r>
              <a:rPr lang="en-US" dirty="0"/>
              <a:t>Examples – HTAN (LSP1201-C10)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5B833D-D827-48B7-863F-C9CD4D0D6163}"/>
              </a:ext>
            </a:extLst>
          </p:cNvPr>
          <p:cNvGrpSpPr/>
          <p:nvPr/>
        </p:nvGrpSpPr>
        <p:grpSpPr>
          <a:xfrm>
            <a:off x="843367" y="1539979"/>
            <a:ext cx="10484604" cy="4952895"/>
            <a:chOff x="838200" y="1690688"/>
            <a:chExt cx="10484604" cy="49528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7C4CD80-0FEA-443D-9193-7AE8153F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1717328"/>
              <a:ext cx="3454117" cy="16459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E0C8EA-865F-4E52-96E2-F1E655D9E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211" y="3367773"/>
              <a:ext cx="3454117" cy="16459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AA70019-77C0-4B44-9B55-BD7394338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027" y="4997663"/>
              <a:ext cx="3454117" cy="164592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34C1E2-C6FF-455A-B13B-095220946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358" y="1690688"/>
              <a:ext cx="3454117" cy="164592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A043422-10C3-4D51-8A99-7D30CF30C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359" y="3351743"/>
              <a:ext cx="3454117" cy="164592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F4CC0DC-60B6-4458-9D2B-EC549DC85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357" y="4997663"/>
              <a:ext cx="3454117" cy="164592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0FDE570-AA95-452A-BB50-A3C4DB34E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8686" y="1721853"/>
              <a:ext cx="3454117" cy="164592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B5287F8-78D2-47CB-A3F3-D4C0BE326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8687" y="3367773"/>
              <a:ext cx="3454117" cy="1645920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8B90D34-2328-41A9-9FED-0360127E0271}"/>
              </a:ext>
            </a:extLst>
          </p:cNvPr>
          <p:cNvSpPr txBox="1"/>
          <p:nvPr/>
        </p:nvSpPr>
        <p:spPr>
          <a:xfrm>
            <a:off x="962302" y="1201812"/>
            <a:ext cx="128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F2E0C5-E293-415F-8790-2A590AA44526}"/>
              </a:ext>
            </a:extLst>
          </p:cNvPr>
          <p:cNvSpPr txBox="1"/>
          <p:nvPr/>
        </p:nvSpPr>
        <p:spPr>
          <a:xfrm>
            <a:off x="2676446" y="1201210"/>
            <a:ext cx="152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Flagged tiles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13A42-3895-46A1-925D-61B67773EEAA}"/>
              </a:ext>
            </a:extLst>
          </p:cNvPr>
          <p:cNvSpPr txBox="1"/>
          <p:nvPr/>
        </p:nvSpPr>
        <p:spPr>
          <a:xfrm>
            <a:off x="4514565" y="1179281"/>
            <a:ext cx="128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E991C3-F652-413B-9E06-9F6A2769B235}"/>
              </a:ext>
            </a:extLst>
          </p:cNvPr>
          <p:cNvSpPr txBox="1"/>
          <p:nvPr/>
        </p:nvSpPr>
        <p:spPr>
          <a:xfrm>
            <a:off x="6228709" y="1179883"/>
            <a:ext cx="152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Flagged tiles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AB3B1F-D476-448E-A62F-C716455A3053}"/>
              </a:ext>
            </a:extLst>
          </p:cNvPr>
          <p:cNvSpPr txBox="1"/>
          <p:nvPr/>
        </p:nvSpPr>
        <p:spPr>
          <a:xfrm>
            <a:off x="7968682" y="1201210"/>
            <a:ext cx="128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1D2719-79E3-4665-8CC9-AA0A5375F39C}"/>
              </a:ext>
            </a:extLst>
          </p:cNvPr>
          <p:cNvSpPr txBox="1"/>
          <p:nvPr/>
        </p:nvSpPr>
        <p:spPr>
          <a:xfrm>
            <a:off x="9682826" y="1201812"/>
            <a:ext cx="152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Flagged tiles</a:t>
            </a:r>
          </a:p>
        </p:txBody>
      </p:sp>
    </p:spTree>
    <p:extLst>
      <p:ext uri="{BB962C8B-B14F-4D97-AF65-F5344CB8AC3E}">
        <p14:creationId xmlns:p14="http://schemas.microsoft.com/office/powerpoint/2010/main" val="45299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943</Words>
  <Application>Microsoft Office PowerPoint</Application>
  <PresentationFormat>Widescreen</PresentationFormat>
  <Paragraphs>107</Paragraphs>
  <Slides>10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Bold</vt:lpstr>
      <vt:lpstr>Arial</vt:lpstr>
      <vt:lpstr>Calibri</vt:lpstr>
      <vt:lpstr>Calibri Light</vt:lpstr>
      <vt:lpstr>Office Theme</vt:lpstr>
      <vt:lpstr>Worksheet</vt:lpstr>
      <vt:lpstr>Building a pipeline for analyzing HTAN mIF </vt:lpstr>
      <vt:lpstr>Computational</vt:lpstr>
      <vt:lpstr>Examples – HTAN (LSP1201-C10)</vt:lpstr>
      <vt:lpstr>Examples – HTAN (LSP1201-C10)</vt:lpstr>
      <vt:lpstr>PowerPoint Presentation</vt:lpstr>
      <vt:lpstr>Examples – HTAN (LSP1201-C10)</vt:lpstr>
      <vt:lpstr>PowerPoint Presentation</vt:lpstr>
      <vt:lpstr>PowerPoint Presentation</vt:lpstr>
      <vt:lpstr>PowerPoint Presentation</vt:lpstr>
      <vt:lpstr>Examples – HTAN (LSP1201-C10)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pipeline for analyzing HTAN mIF</dc:title>
  <dc:creator>Pham, Thu</dc:creator>
  <cp:lastModifiedBy>Pham, Thu</cp:lastModifiedBy>
  <cp:revision>2</cp:revision>
  <dcterms:created xsi:type="dcterms:W3CDTF">2026-10-27T20:24:50Z</dcterms:created>
  <dcterms:modified xsi:type="dcterms:W3CDTF">2026-10-27T20:35:47Z</dcterms:modified>
</cp:coreProperties>
</file>